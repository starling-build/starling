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"/>
  </p:sldMasterIdLst>
  <p:notesMasterIdLst>
    <p:notesMasterId r:id="rIdNM"/>
  </p:notesMasterIdLst>
  <p:sldIdLst>
    <p:sldId id="256" r:id="rIdS1"/>
    <p:sldId id="257" r:id="rIdS2"/>
    <p:sldId id="258" r:id="rIdS3"/>
    <p:sldId id="259" r:id="rIdS4"/>
    <p:sldId id="260" r:id="rIdS5"/>
    <p:sldId id="261" r:id="rIdS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NM" Type="http://schemas.openxmlformats.org/officeDocument/2006/relationships/notesMaster" Target="notesMasters/notesMaster1.xml"/><Relationship Id="rIdPP" Type="http://schemas.openxmlformats.org/officeDocument/2006/relationships/presProps" Target="presProps.xml"/><Relationship Id="rIdVP" Type="http://schemas.openxmlformats.org/officeDocument/2006/relationships/viewProps" Target="viewProps.xml"/><Relationship Id="rIdTS" Type="http://schemas.openxmlformats.org/officeDocument/2006/relationships/tableStyles" Target="tableStyles.xml"/><Relationship Id="rIdT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2032000" y="1496907"/>
            <a:ext cx="12192000" cy="3183467"/>
          </a:xfrm>
        </p:spPr>
        <p:txBody>
          <a:bodyPr anchor="b">
            <a:normAutofit/>
          </a:bodyPr>
          <a:lstStyle>
            <a:lvl1pPr algn="ctr"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2032000" y="4802293"/>
            <a:ext cx="12192000" cy="2208107"/>
          </a:xfrm>
        </p:spPr>
        <p:txBody>
          <a:bodyPr anchor="t">
            <a:normAutofit/>
          </a:bodyPr>
          <a:lstStyle>
            <a:lvl1pPr algn="ctr" marL="0" indent="0">
              <a:buNone/>
              <a:defRPr sz="2400"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2434167"/>
            <a:ext cx="14020800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9133" y="2279227"/>
            <a:ext cx="14020800" cy="3803227"/>
          </a:xfrm>
        </p:spPr>
        <p:txBody>
          <a:bodyPr anchor="b">
            <a:normAutofit/>
          </a:bodyPr>
          <a:lstStyle>
            <a:lvl1pPr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707"/>
            <a:ext cx="14020800" cy="199982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Left Placeholder 2"/>
          <p:cNvSpPr>
            <a:spLocks noGrp="1"/>
          </p:cNvSpPr>
          <p:nvPr>
            <p:ph idx="1"/>
          </p:nvPr>
        </p:nvSpPr>
        <p:spPr>
          <a:xfrm>
            <a:off x="1117600" y="2434167"/>
            <a:ext cx="6908800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Right Placeholder 3"/>
          <p:cNvSpPr>
            <a:spLocks noGrp="1"/>
          </p:cNvSpPr>
          <p:nvPr>
            <p:ph idx="2"/>
          </p:nvPr>
        </p:nvSpPr>
        <p:spPr>
          <a:xfrm>
            <a:off x="8229600" y="2434167"/>
            <a:ext cx="6908800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9293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Heading Left Placeholder 2"/>
          <p:cNvSpPr>
            <a:spLocks noGrp="1"/>
          </p:cNvSpPr>
          <p:nvPr>
            <p:ph type="body" idx="1"/>
          </p:nvPr>
        </p:nvSpPr>
        <p:spPr>
          <a:xfrm>
            <a:off x="1119293" y="2241973"/>
            <a:ext cx="6876627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Left Placeholder 3"/>
          <p:cNvSpPr>
            <a:spLocks noGrp="1"/>
          </p:cNvSpPr>
          <p:nvPr>
            <p:ph idx="2"/>
          </p:nvPr>
        </p:nvSpPr>
        <p:spPr>
          <a:xfrm>
            <a:off x="1119293" y="3340947"/>
            <a:ext cx="6876627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Heading Right Placeholder 4"/>
          <p:cNvSpPr>
            <a:spLocks noGrp="1"/>
          </p:cNvSpPr>
          <p:nvPr>
            <p:ph type="body" idx="3"/>
          </p:nvPr>
        </p:nvSpPr>
        <p:spPr>
          <a:xfrm>
            <a:off x="8229600" y="2241973"/>
            <a:ext cx="6910493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6" name="Content Right Placeholder 5"/>
          <p:cNvSpPr>
            <a:spLocks noGrp="1"/>
          </p:cNvSpPr>
          <p:nvPr>
            <p:ph idx="4"/>
          </p:nvPr>
        </p:nvSpPr>
        <p:spPr>
          <a:xfrm>
            <a:off x="8229600" y="3340947"/>
            <a:ext cx="6910493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Theme" Type="http://schemas.openxmlformats.org/officeDocument/2006/relationships/theme" Target="../theme/theme1.xml"/><Relationship Id="rIdL1" Type="http://schemas.openxmlformats.org/officeDocument/2006/relationships/slideLayout" Target="../slideLayouts/slideLayout1.xml"/><Relationship Id="rIdL2" Type="http://schemas.openxmlformats.org/officeDocument/2006/relationships/slideLayout" Target="../slideLayouts/slideLayout2.xml"/><Relationship Id="rIdL3" Type="http://schemas.openxmlformats.org/officeDocument/2006/relationships/slideLayout" Target="../slideLayouts/slideLayout3.xml"/><Relationship Id="rIdL4" Type="http://schemas.openxmlformats.org/officeDocument/2006/relationships/slideLayout" Target="../slideLayouts/slideLayout4.xml"/><Relationship Id="rIdL5" Type="http://schemas.openxmlformats.org/officeDocument/2006/relationships/slideLayout" Target="../slideLayouts/slideLayout5.xml"/><Relationship Id="rIdL6" Type="http://schemas.openxmlformats.org/officeDocument/2006/relationships/slideLayout" Target="../slideLayouts/slideLayout6.xml"/><Relationship Id="rIdL7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360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1"/>
    <p:sldLayoutId id="2147483650" r:id="rIdL2"/>
    <p:sldLayoutId id="2147483651" r:id="rIdL3"/>
    <p:sldLayoutId id="2147483652" r:id="rIdL4"/>
    <p:sldLayoutId id="2147483653" r:id="rIdL5"/>
    <p:sldLayoutId id="2147483654" r:id="rIdL6"/>
    <p:sldLayoutId id="2147483655" r:id="rIdL7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914400" y="508000"/>
            <a:ext cx="14427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STARLING OFFICE  /  OPEN SOURCE</a:t>
            </a:r>
            <a:endParaRPr lang="en-US" sz="16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914400" y="1651000"/>
            <a:ext cx="9271000" cy="74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Big ideas.</a:t>
            </a:r>
            <a:endParaRPr lang="en-US" sz="11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Start here.</a:t>
            </a:r>
            <a:endParaRPr lang="en-US" sz="11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TextBox 7"/>
          <p:cNvSpPr txBox="1"/>
          <p:nvPr/>
        </p:nvSpPr>
        <p:spPr>
          <a:xfrm>
            <a:off x="914400" y="5308600"/>
            <a:ext cx="8128000" cy="383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Writer. Slides. Sheets.</a:t>
            </a:r>
            <a:endParaRPr lang="en-US" sz="30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An open source office suite.</a:t>
            </a:r>
            <a:endParaRPr lang="en-US" sz="30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" name="Rounded Rectangle 8"/>
          <p:cNvSpPr/>
          <p:nvPr/>
        </p:nvSpPr>
        <p:spPr>
          <a:xfrm>
            <a:off x="11049000" y="2082800"/>
            <a:ext cx="4292600" cy="1447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Rounded Rectangle 9"/>
          <p:cNvSpPr/>
          <p:nvPr/>
        </p:nvSpPr>
        <p:spPr>
          <a:xfrm>
            <a:off x="11226800" y="2260600"/>
            <a:ext cx="838200" cy="1092200"/>
          </a:xfrm>
          <a:prstGeom prst="roundRect">
            <a:avLst/>
          </a:prstGeom>
          <a:solidFill>
            <a:srgbClr val="2449D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11417300" y="2438400"/>
            <a:ext cx="711200" cy="670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endParaRPr lang="en-US" sz="45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12306300" y="2374900"/>
            <a:ext cx="2794000" cy="676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Writer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9" name="TextBox 12"/>
          <p:cNvSpPr txBox="1"/>
          <p:nvPr/>
        </p:nvSpPr>
        <p:spPr>
          <a:xfrm>
            <a:off x="12306300" y="2946400"/>
            <a:ext cx="2794000" cy="619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Documents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0" name="Rounded Rectangle 13"/>
          <p:cNvSpPr/>
          <p:nvPr/>
        </p:nvSpPr>
        <p:spPr>
          <a:xfrm>
            <a:off x="11049000" y="3822700"/>
            <a:ext cx="4292600" cy="1447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Rounded Rectangle 14"/>
          <p:cNvSpPr/>
          <p:nvPr/>
        </p:nvSpPr>
        <p:spPr>
          <a:xfrm>
            <a:off x="11226800" y="4000500"/>
            <a:ext cx="838200" cy="1092200"/>
          </a:xfrm>
          <a:prstGeom prst="roundRect">
            <a:avLst/>
          </a:prstGeom>
          <a:solidFill>
            <a:srgbClr val="E45B35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TextBox 15"/>
          <p:cNvSpPr txBox="1"/>
          <p:nvPr/>
        </p:nvSpPr>
        <p:spPr>
          <a:xfrm>
            <a:off x="11417300" y="4178300"/>
            <a:ext cx="711200" cy="496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lang="en-US" sz="45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TextBox 16"/>
          <p:cNvSpPr txBox="1"/>
          <p:nvPr/>
        </p:nvSpPr>
        <p:spPr>
          <a:xfrm>
            <a:off x="12306300" y="4114800"/>
            <a:ext cx="2794000" cy="502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Slides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4" name="TextBox 17"/>
          <p:cNvSpPr txBox="1"/>
          <p:nvPr/>
        </p:nvSpPr>
        <p:spPr>
          <a:xfrm>
            <a:off x="12306300" y="4686300"/>
            <a:ext cx="2794000" cy="445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Presentations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5" name="Rounded Rectangle 18"/>
          <p:cNvSpPr/>
          <p:nvPr/>
        </p:nvSpPr>
        <p:spPr>
          <a:xfrm>
            <a:off x="11049000" y="5562600"/>
            <a:ext cx="4292600" cy="1447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6" name="Rounded Rectangle 19"/>
          <p:cNvSpPr/>
          <p:nvPr/>
        </p:nvSpPr>
        <p:spPr>
          <a:xfrm>
            <a:off x="11226800" y="5740400"/>
            <a:ext cx="838200" cy="1092200"/>
          </a:xfrm>
          <a:prstGeom prst="roundRect">
            <a:avLst/>
          </a:prstGeom>
          <a:solidFill>
            <a:srgbClr val="13794D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7" name="TextBox 20"/>
          <p:cNvSpPr txBox="1"/>
          <p:nvPr/>
        </p:nvSpPr>
        <p:spPr>
          <a:xfrm>
            <a:off x="11417300" y="5918200"/>
            <a:ext cx="7112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endParaRPr lang="en-US" sz="45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8" name="TextBox 21"/>
          <p:cNvSpPr txBox="1"/>
          <p:nvPr/>
        </p:nvSpPr>
        <p:spPr>
          <a:xfrm>
            <a:off x="12306300" y="5854700"/>
            <a:ext cx="2794000" cy="32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Sheets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12306300" y="6426200"/>
            <a:ext cx="2794000" cy="271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Spreadsheets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20" name="TextBox 23"/>
          <p:cNvSpPr txBox="1"/>
          <p:nvPr/>
        </p:nvSpPr>
        <p:spPr>
          <a:xfrm>
            <a:off x="914400" y="7924800"/>
            <a:ext cx="14427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THREE APPS. ONE OPEN SOURCE SUITE.</a:t>
            </a:r>
            <a:endParaRPr lang="en-US" sz="18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/>
          <p:nvPr/>
        </p:nvSpPr>
        <p:spPr>
          <a:xfrm>
            <a:off x="914400" y="508000"/>
            <a:ext cx="14427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01  /  MEET WRITER</a:t>
            </a:r>
            <a:endParaRPr lang="en-US" sz="16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3" name="TextBox 26"/>
          <p:cNvSpPr txBox="1"/>
          <p:nvPr/>
        </p:nvSpPr>
        <p:spPr>
          <a:xfrm>
            <a:off x="914400" y="1600200"/>
            <a:ext cx="7874000" cy="754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Write something</a:t>
            </a:r>
            <a:endParaRPr lang="en-US" sz="7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great.</a:t>
            </a:r>
            <a:endParaRPr lang="en-US" sz="7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27"/>
          <p:cNvSpPr txBox="1"/>
          <p:nvPr/>
        </p:nvSpPr>
        <p:spPr>
          <a:xfrm>
            <a:off x="914400" y="4343400"/>
            <a:ext cx="61595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A familiar ribbon. A clean page.</a:t>
            </a:r>
            <a:endParaRPr lang="en-US" sz="27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Room for your next big idea.</a:t>
            </a:r>
            <a:endParaRPr lang="en-US" sz="27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5" name="Rounded Rectangle 28"/>
          <p:cNvSpPr/>
          <p:nvPr/>
        </p:nvSpPr>
        <p:spPr>
          <a:xfrm>
            <a:off x="8382000" y="2286000"/>
            <a:ext cx="6959600" cy="4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TextBox 29"/>
          <p:cNvSpPr txBox="1"/>
          <p:nvPr/>
        </p:nvSpPr>
        <p:spPr>
          <a:xfrm>
            <a:off x="8826500" y="2628900"/>
            <a:ext cx="6070600" cy="651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PROJECT NOTES</a:t>
            </a:r>
            <a:endParaRPr lang="en-US" sz="15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7" name="TextBox 30"/>
          <p:cNvSpPr txBox="1"/>
          <p:nvPr/>
        </p:nvSpPr>
        <p:spPr>
          <a:xfrm>
            <a:off x="8826500" y="3111500"/>
            <a:ext cx="6070600" cy="603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Your next big idea.</a:t>
            </a:r>
            <a:endParaRPr lang="en-US" sz="3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8" name="Rectangle 31"/>
          <p:cNvSpPr/>
          <p:nvPr/>
        </p:nvSpPr>
        <p:spPr>
          <a:xfrm>
            <a:off x="8826500" y="3873500"/>
            <a:ext cx="6070600" cy="38100"/>
          </a:xfrm>
          <a:prstGeom prst="rect">
            <a:avLst/>
          </a:prstGeom>
          <a:solidFill>
            <a:srgbClr val="2449D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TextBox 32"/>
          <p:cNvSpPr txBox="1"/>
          <p:nvPr/>
        </p:nvSpPr>
        <p:spPr>
          <a:xfrm>
            <a:off x="8826500" y="4229100"/>
            <a:ext cx="6070600" cy="491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Start with a thought.</a:t>
            </a:r>
            <a:endParaRPr lang="en-US" sz="2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Give it room to grow.</a:t>
            </a:r>
            <a:endParaRPr lang="en-US" sz="2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0" name="Rounded Rectangle 33"/>
          <p:cNvSpPr/>
          <p:nvPr/>
        </p:nvSpPr>
        <p:spPr>
          <a:xfrm>
            <a:off x="8826500" y="5461000"/>
            <a:ext cx="5461000" cy="101600"/>
          </a:xfrm>
          <a:prstGeom prst="roundRect">
            <a:avLst/>
          </a:prstGeom>
          <a:solidFill>
            <a:srgbClr val="E3E9FA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Rounded Rectangle 34"/>
          <p:cNvSpPr/>
          <p:nvPr/>
        </p:nvSpPr>
        <p:spPr>
          <a:xfrm>
            <a:off x="8826500" y="5765800"/>
            <a:ext cx="6070600" cy="101600"/>
          </a:xfrm>
          <a:prstGeom prst="roundRect">
            <a:avLst/>
          </a:prstGeom>
          <a:solidFill>
            <a:srgbClr val="E3E9FA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Rounded Rectangle 35"/>
          <p:cNvSpPr/>
          <p:nvPr/>
        </p:nvSpPr>
        <p:spPr>
          <a:xfrm>
            <a:off x="8826500" y="6070600"/>
            <a:ext cx="4191000" cy="101600"/>
          </a:xfrm>
          <a:prstGeom prst="roundRect">
            <a:avLst/>
          </a:prstGeom>
          <a:solidFill>
            <a:srgbClr val="E3E9FA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914400" y="7937500"/>
            <a:ext cx="14427200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DOCX  ·  RTF  ·  MARKDOWN  ·  TEXT</a:t>
            </a:r>
            <a:endParaRPr lang="en-US" sz="18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14" name="TextBox 37"/>
          <p:cNvSpPr txBox="1"/>
          <p:nvPr/>
        </p:nvSpPr>
        <p:spPr>
          <a:xfrm>
            <a:off x="914400" y="5918200"/>
            <a:ext cx="62230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Fonts, styles, tables, pictures.</a:t>
            </a:r>
            <a:endParaRPr lang="en-US" sz="2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The tools to make it yours.</a:t>
            </a:r>
            <a:endParaRPr lang="en-US" sz="2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9"/>
          <p:cNvSpPr txBox="1"/>
          <p:nvPr/>
        </p:nvSpPr>
        <p:spPr>
          <a:xfrm>
            <a:off x="914400" y="508000"/>
            <a:ext cx="14427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C74724"/>
                </a:solidFill>
                <a:latin typeface="Calibri"/>
                <a:cs typeface="Calibri"/>
              </a:rPr>
              <a:t>02  /  MEET SLIDES</a:t>
            </a:r>
            <a:endParaRPr lang="en-US" sz="1600" b="1" i="0" u="none" strike="noStrike" dirty="0">
              <a:solidFill>
                <a:srgbClr val="C74724"/>
              </a:solidFill>
              <a:latin typeface="Calibri"/>
              <a:cs typeface="Calibri"/>
            </a:endParaRPr>
          </a:p>
        </p:txBody>
      </p:sp>
      <p:sp>
        <p:nvSpPr>
          <p:cNvPr id="3" name="TextBox 40"/>
          <p:cNvSpPr txBox="1"/>
          <p:nvPr/>
        </p:nvSpPr>
        <p:spPr>
          <a:xfrm>
            <a:off x="914400" y="1600200"/>
            <a:ext cx="7874000" cy="754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Make your</a:t>
            </a:r>
            <a:endParaRPr lang="en-US" sz="88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point.</a:t>
            </a:r>
            <a:endParaRPr lang="en-US" sz="88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41"/>
          <p:cNvSpPr txBox="1"/>
          <p:nvPr/>
        </p:nvSpPr>
        <p:spPr>
          <a:xfrm>
            <a:off x="914400" y="4343400"/>
            <a:ext cx="61595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Build a deck. Tell your story.</a:t>
            </a:r>
            <a:endParaRPr lang="en-US" sz="27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Present it with confidence.</a:t>
            </a:r>
            <a:endParaRPr lang="en-US" sz="27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5" name="Rounded Rectangle 42"/>
          <p:cNvSpPr/>
          <p:nvPr/>
        </p:nvSpPr>
        <p:spPr>
          <a:xfrm>
            <a:off x="8382000" y="2286000"/>
            <a:ext cx="6959600" cy="4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TextBox 43"/>
          <p:cNvSpPr txBox="1"/>
          <p:nvPr/>
        </p:nvSpPr>
        <p:spPr>
          <a:xfrm>
            <a:off x="8826500" y="2628900"/>
            <a:ext cx="6032500" cy="651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A clear idea.</a:t>
            </a:r>
            <a:endParaRPr lang="en-US" sz="42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7" name="TextBox 44"/>
          <p:cNvSpPr txBox="1"/>
          <p:nvPr/>
        </p:nvSpPr>
        <p:spPr>
          <a:xfrm>
            <a:off x="8826500" y="3441700"/>
            <a:ext cx="6032500" cy="570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dirty="0">
                <a:solidFill>
                  <a:srgbClr val="C74724"/>
                </a:solidFill>
                <a:latin typeface="Calibri"/>
                <a:cs typeface="Calibri"/>
              </a:rPr>
              <a:t>MAKE EVERY SLIDE COUNT</a:t>
            </a:r>
            <a:endParaRPr lang="en-US" sz="1500" b="1" i="0" u="none" strike="noStrike" dirty="0">
              <a:solidFill>
                <a:srgbClr val="C74724"/>
              </a:solidFill>
              <a:latin typeface="Calibri"/>
              <a:cs typeface="Calibri"/>
            </a:endParaRPr>
          </a:p>
        </p:txBody>
      </p:sp>
      <p:sp>
        <p:nvSpPr>
          <p:cNvPr id="8" name="Rounded Rectangle 45"/>
          <p:cNvSpPr/>
          <p:nvPr/>
        </p:nvSpPr>
        <p:spPr>
          <a:xfrm>
            <a:off x="8915400" y="5130800"/>
            <a:ext cx="787400" cy="889000"/>
          </a:xfrm>
          <a:prstGeom prst="roundRect">
            <a:avLst/>
          </a:prstGeom>
          <a:solidFill>
            <a:srgbClr val="FFCBB8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Rounded Rectangle 46"/>
          <p:cNvSpPr/>
          <p:nvPr/>
        </p:nvSpPr>
        <p:spPr>
          <a:xfrm>
            <a:off x="10083800" y="4584700"/>
            <a:ext cx="787400" cy="1435100"/>
          </a:xfrm>
          <a:prstGeom prst="roundRect">
            <a:avLst/>
          </a:prstGeom>
          <a:solidFill>
            <a:srgbClr val="F2906D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0" name="Rounded Rectangle 47"/>
          <p:cNvSpPr/>
          <p:nvPr/>
        </p:nvSpPr>
        <p:spPr>
          <a:xfrm>
            <a:off x="11252200" y="3937000"/>
            <a:ext cx="787400" cy="2082800"/>
          </a:xfrm>
          <a:prstGeom prst="roundRect">
            <a:avLst/>
          </a:prstGeom>
          <a:solidFill>
            <a:srgbClr val="C74724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TextBox 48"/>
          <p:cNvSpPr txBox="1"/>
          <p:nvPr/>
        </p:nvSpPr>
        <p:spPr>
          <a:xfrm>
            <a:off x="12750800" y="4445000"/>
            <a:ext cx="2349500" cy="469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Clear message</a:t>
            </a:r>
            <a:endParaRPr lang="en-US" sz="1800" b="1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2" name="TextBox 49"/>
          <p:cNvSpPr txBox="1"/>
          <p:nvPr/>
        </p:nvSpPr>
        <p:spPr>
          <a:xfrm>
            <a:off x="12750800" y="4991100"/>
            <a:ext cx="2349500" cy="415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Strong visuals</a:t>
            </a:r>
            <a:endParaRPr lang="en-US" sz="18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3" name="TextBox 50"/>
          <p:cNvSpPr txBox="1"/>
          <p:nvPr/>
        </p:nvSpPr>
        <p:spPr>
          <a:xfrm>
            <a:off x="12750800" y="5537200"/>
            <a:ext cx="2349500" cy="360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Your next big idea</a:t>
            </a:r>
            <a:endParaRPr lang="en-US" sz="18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4" name="TextBox 51"/>
          <p:cNvSpPr txBox="1"/>
          <p:nvPr/>
        </p:nvSpPr>
        <p:spPr>
          <a:xfrm>
            <a:off x="914400" y="5918200"/>
            <a:ext cx="62230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Themes, charts, and animations.</a:t>
            </a:r>
            <a:endParaRPr lang="en-US" sz="2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Speaker notes for your moment.</a:t>
            </a:r>
            <a:endParaRPr lang="en-US" sz="2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5" name="TextBox 52"/>
          <p:cNvSpPr txBox="1"/>
          <p:nvPr/>
        </p:nvSpPr>
        <p:spPr>
          <a:xfrm>
            <a:off x="914400" y="8305800"/>
            <a:ext cx="14427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C74724"/>
                </a:solidFill>
                <a:latin typeface="Calibri"/>
                <a:cs typeface="Calibri"/>
              </a:rPr>
              <a:t>PPTX  ·  THEMES  ·  CHARTS  ·  ANIMATIONS</a:t>
            </a:r>
            <a:endParaRPr lang="en-US" sz="1800" b="1" i="0" u="none" strike="noStrike" dirty="0">
              <a:solidFill>
                <a:srgbClr val="C74724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/>
          <p:cNvSpPr txBox="1"/>
          <p:nvPr/>
        </p:nvSpPr>
        <p:spPr>
          <a:xfrm>
            <a:off x="914400" y="508000"/>
            <a:ext cx="14427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13794D"/>
                </a:solidFill>
                <a:latin typeface="Calibri"/>
                <a:cs typeface="Calibri"/>
              </a:rPr>
              <a:t>03  /  MEET SHEETS</a:t>
            </a:r>
            <a:endParaRPr lang="en-US" sz="1600" b="1" i="0" u="none" strike="noStrike" dirty="0">
              <a:solidFill>
                <a:srgbClr val="13794D"/>
              </a:solidFill>
              <a:latin typeface="Calibri"/>
              <a:cs typeface="Calibri"/>
            </a:endParaRPr>
          </a:p>
        </p:txBody>
      </p:sp>
      <p:sp>
        <p:nvSpPr>
          <p:cNvPr id="3" name="TextBox 55"/>
          <p:cNvSpPr txBox="1"/>
          <p:nvPr/>
        </p:nvSpPr>
        <p:spPr>
          <a:xfrm>
            <a:off x="914400" y="1600200"/>
            <a:ext cx="7747000" cy="754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Let the numbers</a:t>
            </a:r>
            <a:endParaRPr lang="en-US" sz="72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tell the story.</a:t>
            </a:r>
            <a:endParaRPr lang="en-US" sz="72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56"/>
          <p:cNvSpPr txBox="1"/>
          <p:nvPr/>
        </p:nvSpPr>
        <p:spPr>
          <a:xfrm>
            <a:off x="914400" y="4343400"/>
            <a:ext cx="61595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Organize your data.</a:t>
            </a:r>
            <a:endParaRPr lang="en-US" sz="27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Turn formulas into answers.</a:t>
            </a:r>
            <a:endParaRPr lang="en-US" sz="27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5" name="Rounded Rectangle 57"/>
          <p:cNvSpPr/>
          <p:nvPr/>
        </p:nvSpPr>
        <p:spPr>
          <a:xfrm>
            <a:off x="8305800" y="2235200"/>
            <a:ext cx="7035800" cy="4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Rounded Rectangle 58"/>
          <p:cNvSpPr/>
          <p:nvPr/>
        </p:nvSpPr>
        <p:spPr>
          <a:xfrm>
            <a:off x="8509000" y="2438400"/>
            <a:ext cx="6629400" cy="584200"/>
          </a:xfrm>
          <a:prstGeom prst="roundRect">
            <a:avLst/>
          </a:prstGeom>
          <a:solidFill>
            <a:srgbClr val="E3F3E9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7" name="TextBox 59"/>
          <p:cNvSpPr txBox="1"/>
          <p:nvPr/>
        </p:nvSpPr>
        <p:spPr>
          <a:xfrm>
            <a:off x="8712200" y="2540000"/>
            <a:ext cx="6223000" cy="66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13794D"/>
                </a:solidFill>
                <a:latin typeface="Calibri"/>
                <a:cs typeface="Calibri"/>
              </a:rPr>
              <a:t>fx    =SUM(C2:C4)</a:t>
            </a:r>
            <a:endParaRPr lang="en-US" sz="2200" b="0" i="0" u="none" strike="noStrike" dirty="0">
              <a:solidFill>
                <a:srgbClr val="13794D"/>
              </a:solidFill>
              <a:latin typeface="Calibri"/>
              <a:cs typeface="Calibri"/>
            </a:endParaRPr>
          </a:p>
        </p:txBody>
      </p:sp>
      <p:sp>
        <p:nvSpPr>
          <p:cNvPr id="8" name="Rectangle 60"/>
          <p:cNvSpPr/>
          <p:nvPr/>
        </p:nvSpPr>
        <p:spPr>
          <a:xfrm>
            <a:off x="8509000" y="3276600"/>
            <a:ext cx="6629400" cy="609600"/>
          </a:xfrm>
          <a:prstGeom prst="rect">
            <a:avLst/>
          </a:prstGeom>
          <a:solidFill>
            <a:srgbClr val="E3F3E9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TextBox 61"/>
          <p:cNvSpPr txBox="1"/>
          <p:nvPr/>
        </p:nvSpPr>
        <p:spPr>
          <a:xfrm>
            <a:off x="8712200" y="3378200"/>
            <a:ext cx="2108200" cy="576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Project</a:t>
            </a:r>
            <a:endParaRPr lang="en-US" sz="22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0" name="TextBox 62"/>
          <p:cNvSpPr txBox="1"/>
          <p:nvPr/>
        </p:nvSpPr>
        <p:spPr>
          <a:xfrm>
            <a:off x="10922000" y="3378200"/>
            <a:ext cx="2108200" cy="576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Budget</a:t>
            </a:r>
            <a:endParaRPr lang="en-US" sz="22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1" name="TextBox 63"/>
          <p:cNvSpPr txBox="1"/>
          <p:nvPr/>
        </p:nvSpPr>
        <p:spPr>
          <a:xfrm>
            <a:off x="13131800" y="3378200"/>
            <a:ext cx="2108200" cy="576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Actual</a:t>
            </a:r>
            <a:endParaRPr lang="en-US" sz="22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2" name="Rectangle 64"/>
          <p:cNvSpPr/>
          <p:nvPr/>
        </p:nvSpPr>
        <p:spPr>
          <a:xfrm>
            <a:off x="8509000" y="3898900"/>
            <a:ext cx="6629400" cy="6096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TextBox 65"/>
          <p:cNvSpPr txBox="1"/>
          <p:nvPr/>
        </p:nvSpPr>
        <p:spPr>
          <a:xfrm>
            <a:off x="8712200" y="4000500"/>
            <a:ext cx="2108200" cy="514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Design</a:t>
            </a:r>
            <a:endParaRPr lang="en-US" sz="2200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4" name="TextBox 66"/>
          <p:cNvSpPr txBox="1"/>
          <p:nvPr/>
        </p:nvSpPr>
        <p:spPr>
          <a:xfrm>
            <a:off x="10922000" y="4000500"/>
            <a:ext cx="2108200" cy="514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2,400</a:t>
            </a:r>
            <a:endParaRPr lang="en-US" sz="2200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5" name="TextBox 67"/>
          <p:cNvSpPr txBox="1"/>
          <p:nvPr/>
        </p:nvSpPr>
        <p:spPr>
          <a:xfrm>
            <a:off x="13131800" y="4000500"/>
            <a:ext cx="2108200" cy="514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2,100</a:t>
            </a:r>
            <a:endParaRPr lang="en-US" sz="2200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6" name="Rectangle 68"/>
          <p:cNvSpPr/>
          <p:nvPr/>
        </p:nvSpPr>
        <p:spPr>
          <a:xfrm>
            <a:off x="8509000" y="4521200"/>
            <a:ext cx="6629400" cy="6096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7" name="TextBox 69"/>
          <p:cNvSpPr txBox="1"/>
          <p:nvPr/>
        </p:nvSpPr>
        <p:spPr>
          <a:xfrm>
            <a:off x="8712200" y="4622800"/>
            <a:ext cx="2108200" cy="452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Build</a:t>
            </a:r>
            <a:endParaRPr lang="en-US" sz="2200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8" name="TextBox 70"/>
          <p:cNvSpPr txBox="1"/>
          <p:nvPr/>
        </p:nvSpPr>
        <p:spPr>
          <a:xfrm>
            <a:off x="10922000" y="4622800"/>
            <a:ext cx="2108200" cy="452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6,800</a:t>
            </a:r>
            <a:endParaRPr lang="en-US" sz="2200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9" name="TextBox 71"/>
          <p:cNvSpPr txBox="1"/>
          <p:nvPr/>
        </p:nvSpPr>
        <p:spPr>
          <a:xfrm>
            <a:off x="13131800" y="4622800"/>
            <a:ext cx="2108200" cy="452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6,500</a:t>
            </a:r>
            <a:endParaRPr lang="en-US" sz="2200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0" name="Rectangle 72"/>
          <p:cNvSpPr/>
          <p:nvPr/>
        </p:nvSpPr>
        <p:spPr>
          <a:xfrm>
            <a:off x="8509000" y="5143500"/>
            <a:ext cx="6629400" cy="6096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1" name="TextBox 73"/>
          <p:cNvSpPr txBox="1"/>
          <p:nvPr/>
        </p:nvSpPr>
        <p:spPr>
          <a:xfrm>
            <a:off x="8712200" y="5245100"/>
            <a:ext cx="2108200" cy="3898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Launch</a:t>
            </a:r>
            <a:endParaRPr lang="en-US" sz="2200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2" name="TextBox 74"/>
          <p:cNvSpPr txBox="1"/>
          <p:nvPr/>
        </p:nvSpPr>
        <p:spPr>
          <a:xfrm>
            <a:off x="10922000" y="5245100"/>
            <a:ext cx="2108200" cy="3898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1,800</a:t>
            </a:r>
            <a:endParaRPr lang="en-US" sz="2200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3" name="TextBox 75"/>
          <p:cNvSpPr txBox="1"/>
          <p:nvPr/>
        </p:nvSpPr>
        <p:spPr>
          <a:xfrm>
            <a:off x="13131800" y="5245100"/>
            <a:ext cx="2108200" cy="3898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1,400</a:t>
            </a:r>
            <a:endParaRPr lang="en-US" sz="2200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4" name="Rectangle 76"/>
          <p:cNvSpPr/>
          <p:nvPr/>
        </p:nvSpPr>
        <p:spPr>
          <a:xfrm>
            <a:off x="8509000" y="5765800"/>
            <a:ext cx="6629400" cy="609600"/>
          </a:xfrm>
          <a:prstGeom prst="rect">
            <a:avLst/>
          </a:prstGeom>
          <a:solidFill>
            <a:srgbClr val="13794D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5" name="TextBox 77"/>
          <p:cNvSpPr txBox="1"/>
          <p:nvPr/>
        </p:nvSpPr>
        <p:spPr>
          <a:xfrm>
            <a:off x="8712200" y="5867400"/>
            <a:ext cx="21082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endParaRPr lang="en-US" sz="2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6" name="TextBox 78"/>
          <p:cNvSpPr txBox="1"/>
          <p:nvPr/>
        </p:nvSpPr>
        <p:spPr>
          <a:xfrm>
            <a:off x="10922000" y="5867400"/>
            <a:ext cx="21082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11,000</a:t>
            </a:r>
            <a:endParaRPr lang="en-US" sz="2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7" name="TextBox 79"/>
          <p:cNvSpPr txBox="1"/>
          <p:nvPr/>
        </p:nvSpPr>
        <p:spPr>
          <a:xfrm>
            <a:off x="13131800" y="5867400"/>
            <a:ext cx="21082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10,000</a:t>
            </a:r>
            <a:endParaRPr lang="en-US" sz="2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8" name="TextBox 80"/>
          <p:cNvSpPr txBox="1"/>
          <p:nvPr/>
        </p:nvSpPr>
        <p:spPr>
          <a:xfrm>
            <a:off x="914400" y="5918200"/>
            <a:ext cx="62230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Formulas, tables, and filters.</a:t>
            </a:r>
            <a:endParaRPr lang="en-US" sz="2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Keep the whole picture in view.</a:t>
            </a:r>
            <a:endParaRPr lang="en-US" sz="2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29" name="TextBox 81"/>
          <p:cNvSpPr txBox="1"/>
          <p:nvPr/>
        </p:nvSpPr>
        <p:spPr>
          <a:xfrm>
            <a:off x="914400" y="8305800"/>
            <a:ext cx="14427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13794D"/>
                </a:solidFill>
                <a:latin typeface="Calibri"/>
                <a:cs typeface="Calibri"/>
              </a:rPr>
              <a:t>XLSX  ·  CSV  ·  FORMULAS  ·  FILTERS</a:t>
            </a:r>
            <a:endParaRPr lang="en-US" sz="1800" b="1" i="0" u="none" strike="noStrike" dirty="0">
              <a:solidFill>
                <a:srgbClr val="13794D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3"/>
          <p:cNvSpPr txBox="1"/>
          <p:nvPr/>
        </p:nvSpPr>
        <p:spPr>
          <a:xfrm>
            <a:off x="914400" y="508000"/>
            <a:ext cx="14427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04  /  SIX PLATFORMS. ONE AMBITION.</a:t>
            </a:r>
            <a:endParaRPr lang="en-US" sz="16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3" name="TextBox 84"/>
          <p:cNvSpPr txBox="1"/>
          <p:nvPr/>
        </p:nvSpPr>
        <p:spPr>
          <a:xfrm>
            <a:off x="914400" y="1879600"/>
            <a:ext cx="7239000" cy="726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Your office.</a:t>
            </a:r>
            <a:endParaRPr lang="en-US" sz="8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Everywhere.</a:t>
            </a:r>
            <a:endParaRPr lang="en-US" sz="8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85"/>
          <p:cNvSpPr txBox="1"/>
          <p:nvPr/>
        </p:nvSpPr>
        <p:spPr>
          <a:xfrm>
            <a:off x="914400" y="4965700"/>
            <a:ext cx="6350000" cy="417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At a desk. On the move.</a:t>
            </a:r>
            <a:endParaRPr lang="en-US" sz="30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In a browser.</a:t>
            </a:r>
            <a:endParaRPr lang="en-US" sz="30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5" name="Rounded Rectangle 86"/>
          <p:cNvSpPr/>
          <p:nvPr/>
        </p:nvSpPr>
        <p:spPr>
          <a:xfrm>
            <a:off x="8343900" y="1917700"/>
            <a:ext cx="3162300" cy="154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TextBox 87"/>
          <p:cNvSpPr txBox="1"/>
          <p:nvPr/>
        </p:nvSpPr>
        <p:spPr>
          <a:xfrm>
            <a:off x="8572500" y="2070100"/>
            <a:ext cx="2832100" cy="707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macOS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7" name="TextBox 88"/>
          <p:cNvSpPr txBox="1"/>
          <p:nvPr/>
        </p:nvSpPr>
        <p:spPr>
          <a:xfrm>
            <a:off x="8572500" y="2819400"/>
            <a:ext cx="2832100" cy="632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8" name="Rounded Rectangle 89"/>
          <p:cNvSpPr/>
          <p:nvPr/>
        </p:nvSpPr>
        <p:spPr>
          <a:xfrm>
            <a:off x="11798300" y="1917700"/>
            <a:ext cx="3162300" cy="154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TextBox 90"/>
          <p:cNvSpPr txBox="1"/>
          <p:nvPr/>
        </p:nvSpPr>
        <p:spPr>
          <a:xfrm>
            <a:off x="12026900" y="2070100"/>
            <a:ext cx="2832100" cy="707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Windows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0" name="TextBox 91"/>
          <p:cNvSpPr txBox="1"/>
          <p:nvPr/>
        </p:nvSpPr>
        <p:spPr>
          <a:xfrm>
            <a:off x="12026900" y="2819400"/>
            <a:ext cx="2832100" cy="632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1" name="Rounded Rectangle 92"/>
          <p:cNvSpPr/>
          <p:nvPr/>
        </p:nvSpPr>
        <p:spPr>
          <a:xfrm>
            <a:off x="8343900" y="3733800"/>
            <a:ext cx="3162300" cy="154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TextBox 93"/>
          <p:cNvSpPr txBox="1"/>
          <p:nvPr/>
        </p:nvSpPr>
        <p:spPr>
          <a:xfrm>
            <a:off x="8572500" y="3886200"/>
            <a:ext cx="2832100" cy="525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Linux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3" name="TextBox 94"/>
          <p:cNvSpPr txBox="1"/>
          <p:nvPr/>
        </p:nvSpPr>
        <p:spPr>
          <a:xfrm>
            <a:off x="8572500" y="4635500"/>
            <a:ext cx="2832100" cy="450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4" name="Rounded Rectangle 95"/>
          <p:cNvSpPr/>
          <p:nvPr/>
        </p:nvSpPr>
        <p:spPr>
          <a:xfrm>
            <a:off x="11798300" y="3733800"/>
            <a:ext cx="3162300" cy="154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5" name="TextBox 96"/>
          <p:cNvSpPr txBox="1"/>
          <p:nvPr/>
        </p:nvSpPr>
        <p:spPr>
          <a:xfrm>
            <a:off x="12026900" y="3886200"/>
            <a:ext cx="2832100" cy="525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iOS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6" name="TextBox 97"/>
          <p:cNvSpPr txBox="1"/>
          <p:nvPr/>
        </p:nvSpPr>
        <p:spPr>
          <a:xfrm>
            <a:off x="12026900" y="4635500"/>
            <a:ext cx="2832100" cy="450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7" name="Rounded Rectangle 98"/>
          <p:cNvSpPr/>
          <p:nvPr/>
        </p:nvSpPr>
        <p:spPr>
          <a:xfrm>
            <a:off x="8343900" y="5549900"/>
            <a:ext cx="3162300" cy="154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8" name="TextBox 99"/>
          <p:cNvSpPr txBox="1"/>
          <p:nvPr/>
        </p:nvSpPr>
        <p:spPr>
          <a:xfrm>
            <a:off x="8572500" y="5702300"/>
            <a:ext cx="2832100" cy="344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Android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9" name="TextBox 100"/>
          <p:cNvSpPr txBox="1"/>
          <p:nvPr/>
        </p:nvSpPr>
        <p:spPr>
          <a:xfrm>
            <a:off x="8572500" y="6451600"/>
            <a:ext cx="2832100" cy="269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20" name="Rounded Rectangle 101"/>
          <p:cNvSpPr/>
          <p:nvPr/>
        </p:nvSpPr>
        <p:spPr>
          <a:xfrm>
            <a:off x="11798300" y="5549900"/>
            <a:ext cx="3162300" cy="1549400"/>
          </a:xfrm>
          <a:prstGeom prst="roundRect">
            <a:avLst/>
          </a:prstGeom>
          <a:solidFill>
            <a:srgbClr val="2449D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1" name="TextBox 102"/>
          <p:cNvSpPr txBox="1"/>
          <p:nvPr/>
        </p:nvSpPr>
        <p:spPr>
          <a:xfrm>
            <a:off x="12026900" y="5702300"/>
            <a:ext cx="2832100" cy="344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lang="en-US" sz="33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2" name="TextBox 103"/>
          <p:cNvSpPr txBox="1"/>
          <p:nvPr/>
        </p:nvSpPr>
        <p:spPr>
          <a:xfrm>
            <a:off x="12026900" y="6451600"/>
            <a:ext cx="2832100" cy="269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In your browser</a:t>
            </a:r>
            <a:endParaRPr lang="en-US" sz="19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3" name="TextBox 104"/>
          <p:cNvSpPr txBox="1"/>
          <p:nvPr/>
        </p:nvSpPr>
        <p:spPr>
          <a:xfrm>
            <a:off x="914400" y="7950200"/>
            <a:ext cx="144272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Documents. Presentations. Spreadsheets.</a:t>
            </a:r>
            <a:endParaRPr lang="en-US" sz="21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Across your devices. Built in the open.</a:t>
            </a:r>
            <a:endParaRPr lang="en-US" sz="21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6"/>
          <p:cNvSpPr txBox="1"/>
          <p:nvPr/>
        </p:nvSpPr>
        <p:spPr>
          <a:xfrm>
            <a:off x="914400" y="508000"/>
            <a:ext cx="14427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05  /  OPEN SOURCE. FROM THE START.</a:t>
            </a:r>
            <a:endParaRPr lang="en-US" sz="1600" b="1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  <p:sp>
        <p:nvSpPr>
          <p:cNvPr id="3" name="TextBox 107"/>
          <p:cNvSpPr txBox="1"/>
          <p:nvPr/>
        </p:nvSpPr>
        <p:spPr>
          <a:xfrm>
            <a:off x="914400" y="1778000"/>
            <a:ext cx="13208000" cy="736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Open code.</a:t>
            </a:r>
            <a:endParaRPr lang="en-US" sz="98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Shared ambition.</a:t>
            </a:r>
            <a:endParaRPr lang="en-US" sz="98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TextBox 108"/>
          <p:cNvSpPr txBox="1"/>
          <p:nvPr/>
        </p:nvSpPr>
        <p:spPr>
          <a:xfrm>
            <a:off x="914400" y="5207000"/>
            <a:ext cx="144272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0" i="0" u="none" strike="noStrike" dirty="0">
                <a:solidFill>
                  <a:srgbClr val="CCD6EE"/>
                </a:solidFill>
                <a:latin typeface="Calibri"/>
                <a:cs typeface="Calibri"/>
              </a:rPr>
              <a:t>Read the code. Follow the progress.</a:t>
            </a:r>
            <a:endParaRPr lang="en-US" sz="3100" b="0" i="0" u="none" strike="noStrike" dirty="0">
              <a:solidFill>
                <a:srgbClr val="CCD6EE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0" i="0" u="none" strike="noStrike" dirty="0">
                <a:solidFill>
                  <a:srgbClr val="CCD6EE"/>
                </a:solidFill>
                <a:latin typeface="Calibri"/>
                <a:cs typeface="Calibri"/>
              </a:rPr>
              <a:t>Help shape what comes next.</a:t>
            </a:r>
            <a:endParaRPr lang="en-US" sz="3100" b="0" i="0" u="none" strike="noStrike" dirty="0">
              <a:solidFill>
                <a:srgbClr val="CCD6EE"/>
              </a:solidFill>
              <a:latin typeface="Calibri"/>
              <a:cs typeface="Calibri"/>
            </a:endParaRPr>
          </a:p>
        </p:txBody>
      </p:sp>
      <p:sp>
        <p:nvSpPr>
          <p:cNvPr id="5" name="TextBox 109"/>
          <p:cNvSpPr txBox="1"/>
          <p:nvPr/>
        </p:nvSpPr>
        <p:spPr>
          <a:xfrm>
            <a:off x="914400" y="7239000"/>
            <a:ext cx="144272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Built on the Starling SDK.</a:t>
            </a:r>
            <a:endParaRPr lang="en-US" sz="2400" b="0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Apache 2.0 licensed.</a:t>
            </a:r>
            <a:endParaRPr lang="en-US" sz="2400" b="0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  <p:sp>
        <p:nvSpPr>
          <p:cNvPr id="6" name="TextBox 110"/>
          <p:cNvSpPr txBox="1"/>
          <p:nvPr/>
        </p:nvSpPr>
        <p:spPr>
          <a:xfrm>
            <a:off x="914400" y="8394700"/>
            <a:ext cx="144272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WRITER  ·  SLIDES  ·  SHEETS</a:t>
            </a:r>
            <a:endParaRPr lang="en-US" sz="1600" b="1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Starling Slides</Application>
  <Slides>6</Slides>
  <PresentationFormat>On-screen Show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2026-10-07T13:30:10Z</dcterms:created>
  <dcterms:modified xsi:type="dcterms:W3CDTF">2026-10-07T13:30:10Z</dcterms:modified>
</cp:coreProperties>
</file>