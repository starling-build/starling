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More hands. More possibilities.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DC623D"/>
            </a:solidFill>
          </c:spPr>
          <c:cat>
            <c:strRef>
              <c:f>Sheet1!$A$2:$A$4</c:f>
              <c:strCache>
                <c:ptCount val="3"/>
                <c:pt idx="0">
                  <c:v>Prepare</c:v>
                </c:pt>
                <c:pt idx="1">
                  <c:v>Plant</c:v>
                </c:pt>
                <c:pt idx="2">
                  <c:v>Grow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Weekly participation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DC623D"/>
            </a:solidFill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Prepare</c:v>
                </c:pt>
                <c:pt idx="1">
                  <c:v>Plant</c:v>
                </c:pt>
                <c:pt idx="2">
                  <c:v>Grow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t>Cumulative harvest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DC623D"/>
            </a:solidFill>
          </c:spPr>
          <c:cat>
            <c:strRef>
              <c:f>Sheet1!$A$2:$A$4</c:f>
              <c:strCache>
                <c:ptCount val="3"/>
                <c:pt idx="0">
                  <c:v>Prepare</c:v>
                </c:pt>
                <c:pt idx="1">
                  <c:v>Plant</c:v>
                </c:pt>
                <c:pt idx="2">
                  <c:v>Grow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Hours by activity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DC623D"/>
            </a:solidFill>
          </c:spPr>
          <c:cat>
            <c:strRef>
              <c:f>Sheet1!$A$2:$A$4</c:f>
              <c:strCache>
                <c:ptCount val="3"/>
                <c:pt idx="0">
                  <c:v>Prepare</c:v>
                </c:pt>
                <c:pt idx="1">
                  <c:v>Plant</c:v>
                </c:pt>
                <c:pt idx="2">
                  <c:v>Grow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Share of the work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DC623D"/>
            </a:solidFill>
          </c:spPr>
          <c:cat>
            <c:strRef>
              <c:f>Sheet1!$A$2:$A$4</c:f>
              <c:strCache>
                <c:ptCount val="3"/>
                <c:pt idx="0">
                  <c:v>Prepare</c:v>
                </c:pt>
                <c:pt idx="1">
                  <c:v>Plant</c:v>
                </c:pt>
                <c:pt idx="2">
                  <c:v>Grow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48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Watering time and harvest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Beds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Sheet1!$A$2:$A$6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12</c:v>
                </c:pt>
                <c:pt idx="2">
                  <c:v>18</c:v>
                </c:pt>
                <c:pt idx="3">
                  <c:v>25</c:v>
                </c:pt>
                <c:pt idx="4">
                  <c:v>29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t>Where the time goes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DC623D"/>
            </a:solidFill>
          </c:spPr>
          <c:cat>
            <c:strRef>
              <c:f>Sheet1!$A$2:$A$4</c:f>
              <c:strCache>
                <c:ptCount val="3"/>
                <c:pt idx="0">
                  <c:v>Prepare</c:v>
                </c:pt>
                <c:pt idx="1">
                  <c:v>Plant</c:v>
                </c:pt>
                <c:pt idx="2">
                  <c:v>Grow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diagrams/_rels/data1.xml.rels><Relationships xmlns="http://schemas.openxmlformats.org/package/2006/relationships"><Relationship Id="rIdGardenDrawing" Type="http://schemas.microsoft.com/office/2007/relationships/diagramDrawing" Target="drawing1.xml"/></Relationships>
</file>

<file path=ppt/diagrams/colors1.xml><?xml version="1.0" encoding="utf-8"?>
<dgm:colorsDef xmlns:dgm="http://schemas.openxmlformats.org/drawingml/2006/diagram" uniqueId="urn:starling:garden:colors" minVer="12.0">
  <dgm:title val="Garden"/>
  <dgm:desc val=""/>
  <dgm:catLst/>
</dgm:colorsDef>
</file>

<file path=ppt/diagrams/data1.xml><?xml version="1.0" encoding="utf-8"?>
<dgm:dataModel xmlns:dgm="http://schemas.openxmlformats.org/drawingml/2006/diagram" xmlns:a="http://schemas.openxmlformats.org/drawingml/2006/main" xmlns:dsp="http://schemas.microsoft.com/office/drawing/2008/diagram">
  <dgm:ptLst>
    <dgm:pt modelId="0" type="doc">
      <dgm:prSet/>
    </dgm:pt>
    <dgm:pt modelId="1">
      <dgm:prSet/>
      <dgm:spPr/>
      <dgm:t>
        <a:bodyPr/>
        <a:lstStyle/>
        <a:p>
          <a:r>
            <a:t>Learn</a:t>
          </a:r>
        </a:p>
      </dgm:t>
    </dgm:pt>
    <dgm:pt modelId="2">
      <dgm:prSet/>
      <dgm:spPr/>
      <dgm:t>
        <a:bodyPr/>
        <a:lstStyle/>
        <a:p>
          <a:r>
            <a:t>Share</a:t>
          </a:r>
        </a:p>
      </dgm:t>
    </dgm:pt>
    <dgm:pt modelId="3">
      <dgm:prSet/>
      <dgm:spPr/>
      <dgm:t>
        <a:bodyPr/>
        <a:lstStyle/>
        <a:p>
          <a:r>
            <a:t>Grow</a:t>
          </a:r>
        </a:p>
      </dgm:t>
    </dgm:pt>
  </dgm:ptLst>
  <dgm:cxnLst>
    <dgm:cxn modelId="11" type="parOf" srcId="0" destId="1" srcOrd="0" destOrd="0"/>
    <dgm:cxn modelId="12" type="parOf" srcId="0" destId="2" srcOrd="1" destOrd="0"/>
    <dgm:cxn modelId="13" type="parOf" srcId="0" destId="3" srcOrd="2" destOrd="0"/>
  </dgm:cxnLst>
  <dgm:bg/>
  <dgm:whole/>
  <dgm:extLst>
    <a:ext uri="http://schemas.microsoft.com/office/drawing/2008/diagram">
      <dsp:dataModelExt relId="rIdGardenDrawing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a="http://schemas.openxmlformats.org/drawingml/2006/main">
  <dsp:spTree>
    <dsp:nvGrpSpPr>
      <dsp:cNvPr id="1" name=""/>
      <dsp:cNvGrpSpPr/>
      <dsp:nvPr/>
    </dsp:nvGrpSpPr>
    <dsp:grpSpPr>
      <a:xfrm>
        <a:off x="0" y="0"/>
        <a:ext cx="10400000" cy="2000000"/>
        <a:chOff x="0" y="0"/>
        <a:chExt cx="10400000" cy="2000000"/>
      </a:xfrm>
    </dsp:grpSpPr>
    <dsp:sp modelId="1">
      <dsp:nvSpPr>
        <dsp:cNvPr id="2" name="Learn"/>
        <dsp:cNvSpPr/>
        <dsp:nvPr/>
      </dsp:nvSpPr>
      <dsp:spPr>
        <a:xfrm>
          <a:off x="0" y="0"/>
          <a:ext cx="3200000" cy="2000000"/>
        </a:xfrm>
        <a:prstGeom prst="chevron">
          <a:avLst/>
        </a:prstGeom>
        <a:solidFill>
          <a:srgbClr val="2449DF"/>
        </a:solidFill>
        <a:ln>
          <a:noFill/>
        </a:ln>
      </dsp:spPr>
      <dsp:txBody>
        <a:bodyPr anchor="ctr"/>
        <a:lstStyle/>
        <a:p>
          <a:pPr algn="ctr"/>
          <a:r>
            <a:rPr sz="3000">
              <a:solidFill>
                <a:srgbClr val="FFFFFF"/>
              </a:solidFill>
            </a:rPr>
            <a:t>Learn</a:t>
          </a:r>
        </a:p>
      </dsp:txBody>
    </dsp:sp>
    <dsp:sp modelId="2">
      <dsp:nvSpPr>
        <dsp:cNvPr id="3" name="Share"/>
        <dsp:cNvSpPr/>
        <dsp:nvPr/>
      </dsp:nvSpPr>
      <dsp:spPr>
        <a:xfrm>
          <a:off x="3600000" y="0"/>
          <a:ext cx="3200000" cy="2000000"/>
        </a:xfrm>
        <a:prstGeom prst="chevron">
          <a:avLst/>
        </a:prstGeom>
        <a:solidFill>
          <a:srgbClr val="17644F"/>
        </a:solidFill>
        <a:ln>
          <a:noFill/>
        </a:ln>
      </dsp:spPr>
      <dsp:txBody>
        <a:bodyPr anchor="ctr"/>
        <a:lstStyle/>
        <a:p>
          <a:pPr algn="ctr"/>
          <a:r>
            <a:rPr sz="3000">
              <a:solidFill>
                <a:srgbClr val="FFFFFF"/>
              </a:solidFill>
            </a:rPr>
            <a:t>Share</a:t>
          </a:r>
        </a:p>
      </dsp:txBody>
    </dsp:sp>
    <dsp:sp modelId="3">
      <dsp:nvSpPr>
        <dsp:cNvPr id="4" name="Grow"/>
        <dsp:cNvSpPr/>
        <dsp:nvPr/>
      </dsp:nvSpPr>
      <dsp:spPr>
        <a:xfrm>
          <a:off x="7200000" y="0"/>
          <a:ext cx="3200000" cy="2000000"/>
        </a:xfrm>
        <a:prstGeom prst="chevron">
          <a:avLst/>
        </a:prstGeom>
        <a:solidFill>
          <a:srgbClr val="AC4328"/>
        </a:solidFill>
        <a:ln>
          <a:noFill/>
        </a:ln>
      </dsp:spPr>
      <dsp:txBody>
        <a:bodyPr anchor="ctr"/>
        <a:lstStyle/>
        <a:p>
          <a:pPr algn="ctr"/>
          <a:r>
            <a:rPr sz="3000">
              <a:solidFill>
                <a:srgbClr val="FFFFFF"/>
              </a:solidFill>
            </a:rPr>
            <a:t>Grow</a:t>
          </a:r>
        </a:p>
      </dsp:txBody>
    </dsp:sp>
  </dsp:spTree>
</dsp:drawing>
</file>

<file path=ppt/diagrams/layout1.xml><?xml version="1.0" encoding="utf-8"?>
<dgm:layoutDef xmlns:dgm="http://schemas.openxmlformats.org/drawingml/2006/diagram" uniqueId="urn:starling:garden:process" minVer="12.0">
  <dgm:title val="Garden process"/>
  <dgm:desc val="Learn, share, grow"/>
  <dgm:catLst/>
  <dgm:layoutNode name="process">
    <dgm:alg type="lin"/>
    <dgm:forEach name="nodes" axis="ch" ptType="node">
      <dgm:layoutNode name="node">
        <dgm:alg type="tx"/>
        <dgm:shape type="chevron"/>
      </dgm:layoutNode>
    </dgm:forEach>
  </dgm:layoutNode>
</dgm:layoutDef>
</file>

<file path=ppt/diagrams/quickStyle1.xml><?xml version="1.0" encoding="utf-8"?>
<dgm:styleDef xmlns:dgm="http://schemas.openxmlformats.org/drawingml/2006/diagram" uniqueId="urn:starling:garden:style" minVer="12.0">
  <dgm:title val="Garden"/>
  <dgm:desc val=""/>
  <dgm:catLst/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edit the chart data. Start Slide Show to present; open Presenter View for notes.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move or resize the picture, edit the caption, and add a link to the text.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edit and align the shapes. In Slide Show, click to reveal the final step with a wipe.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edit table cells, change fills, and adjust row heights and column widths.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select the SmartArt diagram, move or resize it, then save and reopen the deck.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change the line and area chart values to explore a different season.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compare a bar chart with a pie chart. Change the chart colors and labels.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edit a scatter plot point or a doughnut segment. All charts contain real data.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it: change the WordArt, rotate the star, or add a new slide using a different layout. These are fictional planning figures. Invite the audience to change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GardenData" Type="http://schemas.openxmlformats.org/officeDocument/2006/relationships/diagramData" Target="../diagrams/data1.xml"/><Relationship Id="rIdGardenLayout" Type="http://schemas.openxmlformats.org/officeDocument/2006/relationships/diagramLayout" Target="../diagrams/layout1.xml"/><Relationship Id="rIdGardenStyle" Type="http://schemas.openxmlformats.org/officeDocument/2006/relationships/diagramQuickStyle" Target="../diagrams/quickStyle1.xml"/><Relationship Id="rIdGardenColors" Type="http://schemas.openxmlformats.org/officeDocument/2006/relationships/diagramColors" Target="../diagrams/colors1.xml"/><Relationship Id="rIdGardenDrawing" Type="http://schemas.microsoft.com/office/2007/relationships/diagramDrawing" Target="../diagrams/drawing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riter.starling.build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192B40"/>
                </a:solidFill>
                <a:latin typeface="Calibri"/>
              </a:defRPr>
            </a:pPr>
            <a:r>
              <a:t>Good things</a:t>
            </a:r>
          </a:p>
          <a:p>
            <a:pPr>
              <a:defRPr sz="4200" b="1">
                <a:solidFill>
                  <a:srgbClr val="192B40"/>
                </a:solidFill>
                <a:latin typeface="Calibri"/>
              </a:defRPr>
            </a:pPr>
            <a:r>
              <a:t>grow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edit the chart data. Start Slide Show to present; open Presenter View for notes.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472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92B40"/>
                </a:solidFill>
                <a:latin typeface="Calibri"/>
              </a:defRPr>
            </a:pPr>
            <a:r>
              <a:t>A shared space. A simple plan.</a:t>
            </a:r>
          </a:p>
          <a:p>
            <a:pPr>
              <a:defRPr sz="2200" b="0">
                <a:solidFill>
                  <a:srgbClr val="192B40"/>
                </a:solidFill>
                <a:latin typeface="Calibri"/>
              </a:defRPr>
            </a:pPr>
            <a:r>
              <a:t>A whole season of possibility.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AC4328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48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92B40"/>
                </a:solidFill>
                <a:latin typeface="Calibri"/>
              </a:defRPr>
            </a:pPr>
            <a:r>
              <a:t>raised beds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AC4328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548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92B40"/>
                </a:solidFill>
                <a:latin typeface="Calibri"/>
              </a:defRPr>
            </a:pPr>
            <a:r>
              <a:t>weeks to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AC432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548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92B40"/>
                </a:solidFill>
                <a:latin typeface="Calibri"/>
              </a:defRPr>
            </a:pPr>
            <a:r>
              <a:t>community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0" y="1554480"/>
          <a:ext cx="521208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92B40"/>
                </a:solidFill>
                <a:latin typeface="Calibri"/>
              </a:defRPr>
            </a:pPr>
            <a:r>
              <a:t>Make room for everyone.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move or resize the picture, edit the caption, and add a link to the text.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560"/>
            <a:ext cx="7406640" cy="2592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20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192B40"/>
                </a:solidFill>
                <a:latin typeface="Calibri"/>
              </a:defRPr>
            </a:pPr>
            <a:r>
              <a:t>Six raised beds.</a:t>
            </a:r>
          </a:p>
          <a:p>
            <a:pPr>
              <a:defRPr sz="2400" b="0">
                <a:solidFill>
                  <a:srgbClr val="192B40"/>
                </a:solidFill>
                <a:latin typeface="Calibri"/>
              </a:defRPr>
            </a:pPr>
            <a:r>
              <a:t>Shared tools.</a:t>
            </a:r>
          </a:p>
          <a:p>
            <a:pPr>
              <a:defRPr sz="2400" b="0">
                <a:solidFill>
                  <a:srgbClr val="192B40"/>
                </a:solidFill>
                <a:latin typeface="Calibri"/>
              </a:defRPr>
            </a:pPr>
            <a:r>
              <a:t>Open mornings.</a:t>
            </a:r>
          </a:p>
          <a:p>
            <a:pPr>
              <a:defRPr sz="2400" b="0">
                <a:solidFill>
                  <a:srgbClr val="192B40"/>
                </a:solidFill>
                <a:latin typeface="Calibri"/>
              </a:defRPr>
            </a:pPr>
            <a:r>
              <a:t>Space to learn.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92B40"/>
                </a:solidFill>
                <a:latin typeface="Calibri"/>
              </a:defRPr>
            </a:pPr>
            <a:r>
              <a:t>A simple site plan, embedded as a picture.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92B40"/>
                </a:solidFill>
                <a:latin typeface="Calibri"/>
              </a:defRPr>
            </a:pPr>
            <a:r>
              <a:t>Four weeks to a fresh start.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edit and align the shapes. In Slide Show, click to reveal the final step with a wipe.</a:t>
            </a:r>
          </a:p>
        </p:txBody>
      </p:sp>
      <p:sp>
        <p:nvSpPr>
          <p:cNvPr id="6" name="Chevron 5"/>
          <p:cNvSpPr/>
          <p:nvPr/>
        </p:nvSpPr>
        <p:spPr>
          <a:xfrm>
            <a:off x="640080" y="2468880"/>
            <a:ext cx="2468880" cy="1554480"/>
          </a:xfrm>
          <a:prstGeom prst="chevron">
            <a:avLst/>
          </a:prstGeom>
          <a:solidFill>
            <a:srgbClr val="244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Listen</a:t>
            </a:r>
          </a:p>
        </p:txBody>
      </p:sp>
      <p:sp>
        <p:nvSpPr>
          <p:cNvPr id="7" name="Chevron 6"/>
          <p:cNvSpPr/>
          <p:nvPr/>
        </p:nvSpPr>
        <p:spPr>
          <a:xfrm>
            <a:off x="3520439" y="2468880"/>
            <a:ext cx="2468880" cy="1554480"/>
          </a:xfrm>
          <a:prstGeom prst="chevron">
            <a:avLst/>
          </a:prstGeom>
          <a:solidFill>
            <a:srgbClr val="176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Build</a:t>
            </a:r>
          </a:p>
        </p:txBody>
      </p:sp>
      <p:sp>
        <p:nvSpPr>
          <p:cNvPr id="8" name="Chevron 7"/>
          <p:cNvSpPr/>
          <p:nvPr/>
        </p:nvSpPr>
        <p:spPr>
          <a:xfrm>
            <a:off x="6400800" y="2468880"/>
            <a:ext cx="2468880" cy="1554480"/>
          </a:xfrm>
          <a:prstGeom prst="chevron">
            <a:avLst/>
          </a:prstGeom>
          <a:solidFill>
            <a:srgbClr val="AC4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Plant</a:t>
            </a:r>
          </a:p>
        </p:txBody>
      </p:sp>
      <p:sp>
        <p:nvSpPr>
          <p:cNvPr id="9" name="Chevron 8"/>
          <p:cNvSpPr/>
          <p:nvPr/>
        </p:nvSpPr>
        <p:spPr>
          <a:xfrm>
            <a:off x="9281159" y="2468880"/>
            <a:ext cx="2468880" cy="1554480"/>
          </a:xfrm>
          <a:prstGeom prst="chevron">
            <a:avLst/>
          </a:prstGeom>
          <a:solidFill>
            <a:srgbClr val="71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Grow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192B40"/>
                </a:solidFill>
                <a:latin typeface="Calibri"/>
              </a:defRPr>
            </a:pPr>
            <a:r>
              <a:t>One shared plan. A little progress every week.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92B40"/>
                </a:solidFill>
                <a:latin typeface="Calibri"/>
              </a:defRPr>
            </a:pPr>
            <a:r>
              <a:t>A plan people can follow.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edit table cells, change fills, and adjust row heights and column widths.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657600"/>
                <a:gridCol w="2926080"/>
                <a:gridCol w="3291840"/>
              </a:tblGrid>
              <a:tr h="694944"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FFFFFF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>
                    <a:solidFill>
                      <a:srgbClr val="AC43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FFFFFF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>
                    <a:solidFill>
                      <a:srgbClr val="AC43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FFFFFF"/>
                          </a:solidFill>
                        </a:defRPr>
                      </a:pPr>
                      <a:r>
                        <a:t>People</a:t>
                      </a:r>
                    </a:p>
                  </a:txBody>
                  <a:tcPr>
                    <a:solidFill>
                      <a:srgbClr val="AC43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AC432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4DD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Listen and sketch</a:t>
                      </a:r>
                    </a:p>
                  </a:txBody>
                  <a:tcPr>
                    <a:solidFill>
                      <a:srgbClr val="F4DD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Neighbors</a:t>
                      </a:r>
                    </a:p>
                  </a:txBody>
                  <a:tcPr>
                    <a:solidFill>
                      <a:srgbClr val="F4DD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A shared plan</a:t>
                      </a:r>
                    </a:p>
                  </a:txBody>
                  <a:tcPr>
                    <a:solidFill>
                      <a:srgbClr val="F4DDCE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6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Build beds and paths</a:t>
                      </a:r>
                    </a:p>
                  </a:txBody>
                  <a:tcPr>
                    <a:solidFill>
                      <a:srgbClr val="FFF6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Build team</a:t>
                      </a:r>
                    </a:p>
                  </a:txBody>
                  <a:tcPr>
                    <a:solidFill>
                      <a:srgbClr val="FFF6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A welcoming space</a:t>
                      </a:r>
                    </a:p>
                  </a:txBody>
                  <a:tcPr>
                    <a:solidFill>
                      <a:srgbClr val="FFF6E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4DD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Plant and label</a:t>
                      </a:r>
                    </a:p>
                  </a:txBody>
                  <a:tcPr>
                    <a:solidFill>
                      <a:srgbClr val="F4DD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Garden team</a:t>
                      </a:r>
                    </a:p>
                  </a:txBody>
                  <a:tcPr>
                    <a:solidFill>
                      <a:srgbClr val="F4DDC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The first seedlings</a:t>
                      </a:r>
                    </a:p>
                  </a:txBody>
                  <a:tcPr>
                    <a:solidFill>
                      <a:srgbClr val="F4DDCE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6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Open the gates</a:t>
                      </a:r>
                    </a:p>
                  </a:txBody>
                  <a:tcPr>
                    <a:solidFill>
                      <a:srgbClr val="FFF6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Everyone</a:t>
                      </a:r>
                    </a:p>
                  </a:txBody>
                  <a:tcPr>
                    <a:solidFill>
                      <a:srgbClr val="FFF6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>
                          <a:solidFill>
                            <a:srgbClr val="192B40"/>
                          </a:solidFill>
                        </a:defRPr>
                      </a:pPr>
                      <a:r>
                        <a:t>A new habit</a:t>
                      </a:r>
                    </a:p>
                  </a:txBody>
                  <a:tcPr>
                    <a:solidFill>
                      <a:srgbClr val="FFF6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92B40"/>
                </a:solidFill>
                <a:latin typeface="Calibri"/>
              </a:defRPr>
            </a:pPr>
            <a:r>
              <a:t>Learn. Share. Grow.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select the SmartArt diagram, move or resize it, then save and reopen the deck.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40280"/>
          <a:ext cx="10881360" cy="3200400"/>
        </p:xfrm>
        <a:graphic>
          <a:graphicData uri="http://schemas.openxmlformats.org/drawingml/2006/diagram">
            <dgm:relIds xmlns:dgm="http://schemas.openxmlformats.org/drawingml/2006/diagram" r:dm="rIdGardenData" r:lo="rIdGardenLayout" r:qs="rIdGardenStyle" r:cs="rIdGardenColors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92B40"/>
                </a:solidFill>
                <a:latin typeface="Calibri"/>
              </a:defRPr>
            </a:pPr>
            <a:r>
              <a:t>A season of small gains.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change the line and area chart values to explore a different season.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965960"/>
          <a:ext cx="548640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965960"/>
          <a:ext cx="5394960" cy="3931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92B40"/>
                </a:solidFill>
                <a:latin typeface="Calibri"/>
              </a:defRPr>
            </a:pPr>
            <a:r>
              <a:t>See the balance.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compare a bar chart with a pie chart. Change the chart colors and labels.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965960"/>
          <a:ext cx="548640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965960"/>
          <a:ext cx="5394960" cy="3931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92B40"/>
                </a:solidFill>
                <a:latin typeface="Calibri"/>
              </a:defRPr>
            </a:pPr>
            <a:r>
              <a:t>Look for a pattern.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edit a scatter plot point or a doughnut segment. All charts contain real data.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965960"/>
          <a:ext cx="548640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965960"/>
          <a:ext cx="5394960" cy="3931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C4328"/>
                </a:solidFill>
                <a:latin typeface="Calibri"/>
              </a:defRPr>
            </a:pPr>
            <a:r>
              <a:t>FIELD NOTES / COMMUNITY GARDEN   / 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92B40"/>
                </a:solidFill>
                <a:latin typeface="Calibri"/>
              </a:defRPr>
            </a:pPr>
            <a:r>
              <a:t>Let’s grow something good.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C4328"/>
                </a:solidFill>
                <a:latin typeface="Calibri"/>
              </a:defRPr>
            </a:pPr>
            <a:r>
              <a:t>Try it: change the WordArt, rotate the star, or add a new slide using a different layout.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  <a:prstTxWarp prst="textArchUp">
              <a:avLst/>
            </a:prstTxWarp>
          </a:bodyPr>
          <a:lstStyle/>
          <a:p>
            <a:pPr>
              <a:defRPr sz="4800" b="1">
                <a:solidFill>
                  <a:srgbClr val="17644F"/>
                </a:solidFill>
                <a:latin typeface="Calibri"/>
              </a:defRPr>
            </a:pPr>
            <a:r>
              <a:t>GROW TOGETHER</a:t>
            </a:r>
          </a:p>
        </p:txBody>
      </p:sp>
      <p:sp>
        <p:nvSpPr>
          <p:cNvPr id="7" name="5-Point Star 6"/>
          <p:cNvSpPr/>
          <p:nvPr/>
        </p:nvSpPr>
        <p:spPr>
          <a:xfrm rot="900000">
            <a:off x="9692640" y="4023360"/>
            <a:ext cx="1234440" cy="1234440"/>
          </a:xfrm>
          <a:prstGeom prst="star5">
            <a:avLst/>
          </a:prstGeom>
          <a:solidFill>
            <a:srgbClr val="DC6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192B40"/>
                </a:solidFill>
                <a:latin typeface="Calibri"/>
              </a:defRPr>
            </a:pPr>
            <a:r>
              <a:rPr>
                <a:hlinkClick r:id="rId3"/>
              </a:rPr>
              <a:t>Bring an idea. Bring a neighbor. Start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